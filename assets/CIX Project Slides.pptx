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9"/>
  </p:normalViewPr>
  <p:slideViewPr>
    <p:cSldViewPr snapToGrid="0">
      <p:cViewPr varScale="1">
        <p:scale>
          <a:sx n="87" d="100"/>
          <a:sy n="87" d="100"/>
        </p:scale>
        <p:origin x="8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457200" y="146304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7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Clinical Trial Competitive Intelligence Dashboard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457200" y="713232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lang="en-US" sz="1500" b="0" i="0" u="none" strike="noStrike" cap="none" dirty="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Analytics Consulting Project  ·  Client: Fortune 500 Medical </a:t>
            </a:r>
            <a:r>
              <a:rPr lang="en-US" sz="1500" b="0" i="0" u="none" strike="noStrike" cap="non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Device Manufacturer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733"/>
              </a:buClr>
              <a:buSzPts val="1300"/>
              <a:buFont typeface="Calibri"/>
              <a:buNone/>
            </a:pPr>
            <a:r>
              <a:rPr lang="en-US" sz="1600" b="0" i="1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The Problem: Reviewers had to manually screen thousands of new clinical trial filings a month to catch </a:t>
            </a:r>
            <a:r>
              <a:rPr lang="en-US" sz="1600" b="1" i="1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competitor moves and emerging market signals</a:t>
            </a:r>
            <a:r>
              <a:rPr lang="en-US" sz="1600" b="0" i="1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, a process too slow and inconsistent to keep up with a market that changes every week.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375025" y="2052800"/>
            <a:ext cx="46992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600"/>
              <a:buFont typeface="Calibri"/>
              <a:buNone/>
            </a:pPr>
            <a:r>
              <a:rPr lang="en-US" sz="2100" b="1" i="0" u="none" strike="noStrike" cap="non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What I Built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375025" y="2571563"/>
            <a:ext cx="298500" cy="3069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/>
          </a:p>
        </p:txBody>
      </p:sp>
      <p:sp>
        <p:nvSpPr>
          <p:cNvPr id="22" name="Google Shape;22;p3"/>
          <p:cNvSpPr/>
          <p:nvPr/>
        </p:nvSpPr>
        <p:spPr>
          <a:xfrm>
            <a:off x="375025" y="2571563"/>
            <a:ext cx="2982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822594" y="2523600"/>
            <a:ext cx="6639000" cy="2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733"/>
              </a:buClr>
              <a:buSzPts val="1300"/>
              <a:buFont typeface="Calibri"/>
              <a:buNone/>
            </a:pPr>
            <a:r>
              <a:rPr lang="en-US" sz="1600" b="1" i="0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Data Pipeline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822600" y="2880174"/>
            <a:ext cx="68493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B7A99"/>
              </a:buClr>
              <a:buSzPts val="970"/>
              <a:buFont typeface="Calibri"/>
              <a:buNone/>
            </a:pPr>
            <a:r>
              <a:rPr lang="en-US" sz="127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Engineered a Python ingestion pipeline pulling 20,000+ public clinical trial records from a national trial registry API on a weekly refresh, automating sponsor deduplication and change-tracking across 10+ relational tables.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375025" y="3562820"/>
            <a:ext cx="298500" cy="3069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/>
          </a:p>
        </p:txBody>
      </p:sp>
      <p:sp>
        <p:nvSpPr>
          <p:cNvPr id="26" name="Google Shape;26;p3"/>
          <p:cNvSpPr/>
          <p:nvPr/>
        </p:nvSpPr>
        <p:spPr>
          <a:xfrm>
            <a:off x="375025" y="3562820"/>
            <a:ext cx="298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822594" y="3514858"/>
            <a:ext cx="6639000" cy="2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733"/>
              </a:buClr>
              <a:buSzPts val="1300"/>
              <a:buFont typeface="Calibri"/>
              <a:buNone/>
            </a:pPr>
            <a:r>
              <a:rPr lang="en-US" sz="1600" b="1" i="0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Two-Part Scoring Model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822594" y="3773857"/>
            <a:ext cx="66390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B7A99"/>
              </a:buClr>
              <a:buSzPts val="970"/>
              <a:buFont typeface="Calibri"/>
              <a:buNone/>
            </a:pPr>
            <a:r>
              <a:rPr lang="en-US" sz="127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Designed a rule-based relevance score from sponsor, intervention, and condition signals, paired with an LLM-based importance score assessing trial novelty and market opportunity.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375025" y="4406966"/>
            <a:ext cx="298500" cy="3069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/>
          </a:p>
        </p:txBody>
      </p:sp>
      <p:sp>
        <p:nvSpPr>
          <p:cNvPr id="30" name="Google Shape;30;p3"/>
          <p:cNvSpPr/>
          <p:nvPr/>
        </p:nvSpPr>
        <p:spPr>
          <a:xfrm>
            <a:off x="375025" y="4406966"/>
            <a:ext cx="298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822594" y="4359003"/>
            <a:ext cx="6639000" cy="2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733"/>
              </a:buClr>
              <a:buSzPts val="1300"/>
              <a:buFont typeface="Calibri"/>
              <a:buNone/>
            </a:pPr>
            <a:r>
              <a:rPr lang="en-US" sz="1600" b="1" i="0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Validation &amp; Guardrails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822594" y="4618002"/>
            <a:ext cx="66390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B7A99"/>
              </a:buClr>
              <a:buSzPts val="970"/>
              <a:buFont typeface="Calibri"/>
              <a:buNone/>
            </a:pPr>
            <a:r>
              <a:rPr lang="en-US" sz="127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Stress-tested model outputs with sensitivity and robustness checks, and built an LLM guardrail layer that catches and blocks unsupported or overconfident scores before they reach stakeholders.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375025" y="5251111"/>
            <a:ext cx="298500" cy="3069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/>
          </a:p>
        </p:txBody>
      </p:sp>
      <p:sp>
        <p:nvSpPr>
          <p:cNvPr id="34" name="Google Shape;34;p3"/>
          <p:cNvSpPr/>
          <p:nvPr/>
        </p:nvSpPr>
        <p:spPr>
          <a:xfrm>
            <a:off x="375025" y="5251111"/>
            <a:ext cx="298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3"/>
          <p:cNvSpPr/>
          <p:nvPr/>
        </p:nvSpPr>
        <p:spPr>
          <a:xfrm>
            <a:off x="822594" y="5203148"/>
            <a:ext cx="6639000" cy="2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733"/>
              </a:buClr>
              <a:buSzPts val="1300"/>
              <a:buFont typeface="Calibri"/>
              <a:buNone/>
            </a:pPr>
            <a:r>
              <a:rPr lang="en-US" sz="1600" b="1" i="0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Interactive Dashboard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3"/>
          <p:cNvSpPr/>
          <p:nvPr/>
        </p:nvSpPr>
        <p:spPr>
          <a:xfrm>
            <a:off x="822594" y="5462147"/>
            <a:ext cx="66390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6B7A99"/>
              </a:buClr>
              <a:buSzPts val="970"/>
              <a:buFont typeface="Calibri"/>
              <a:buNone/>
            </a:pPr>
            <a:r>
              <a:rPr lang="en-US" sz="127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Packaged results into an executive summary view, a market-trend view, and a prioritized trial tracker, so reviewers can see not just which trials matter, but why.</a:t>
            </a:r>
            <a:endParaRPr sz="127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3"/>
          <p:cNvSpPr/>
          <p:nvPr/>
        </p:nvSpPr>
        <p:spPr>
          <a:xfrm>
            <a:off x="7671910" y="2057443"/>
            <a:ext cx="40692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600"/>
              <a:buFont typeface="Calibri"/>
              <a:buNone/>
            </a:pPr>
            <a:r>
              <a:rPr lang="en-US" sz="2400" b="1" i="0" u="none" strike="noStrike" cap="non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Impact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3"/>
          <p:cNvSpPr/>
          <p:nvPr/>
        </p:nvSpPr>
        <p:spPr>
          <a:xfrm>
            <a:off x="7610663" y="2606757"/>
            <a:ext cx="1938600" cy="9858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2700" cap="flat" cmpd="sng">
            <a:solidFill>
              <a:srgbClr val="DDE6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39" name="Google Shape;39;p3"/>
          <p:cNvSpPr/>
          <p:nvPr/>
        </p:nvSpPr>
        <p:spPr>
          <a:xfrm>
            <a:off x="7683815" y="2685621"/>
            <a:ext cx="1792200" cy="3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862E"/>
              </a:buClr>
              <a:buSzPts val="1800"/>
              <a:buFont typeface="Calibri"/>
              <a:buNone/>
            </a:pPr>
            <a:r>
              <a:rPr lang="en-US" sz="2200" b="1" i="0" u="none" strike="noStrike" cap="none">
                <a:solidFill>
                  <a:srgbClr val="B8862E"/>
                </a:solidFill>
                <a:latin typeface="Calibri"/>
                <a:ea typeface="Calibri"/>
                <a:cs typeface="Calibri"/>
                <a:sym typeface="Calibri"/>
              </a:rPr>
              <a:t>$2M+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3"/>
          <p:cNvSpPr/>
          <p:nvPr/>
        </p:nvSpPr>
        <p:spPr>
          <a:xfrm>
            <a:off x="7683815" y="3079946"/>
            <a:ext cx="1792200" cy="4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32733"/>
              </a:buClr>
              <a:buSzPts val="830"/>
              <a:buFont typeface="Calibri"/>
              <a:buNone/>
            </a:pPr>
            <a:r>
              <a:rPr lang="en-US" sz="1230" b="0" i="0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Competitive intelligence value delivered</a:t>
            </a:r>
            <a:endParaRPr sz="12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3"/>
          <p:cNvSpPr/>
          <p:nvPr/>
        </p:nvSpPr>
        <p:spPr>
          <a:xfrm>
            <a:off x="9686357" y="2606757"/>
            <a:ext cx="1938600" cy="9858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2700" cap="flat" cmpd="sng">
            <a:solidFill>
              <a:srgbClr val="DDE6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42" name="Google Shape;42;p3"/>
          <p:cNvSpPr/>
          <p:nvPr/>
        </p:nvSpPr>
        <p:spPr>
          <a:xfrm>
            <a:off x="9759509" y="2685621"/>
            <a:ext cx="1792200" cy="3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862E"/>
              </a:buClr>
              <a:buSzPts val="1800"/>
              <a:buFont typeface="Calibri"/>
              <a:buNone/>
            </a:pPr>
            <a:r>
              <a:rPr lang="en-US" sz="2200" b="1" i="0" u="none" strike="noStrike" cap="none">
                <a:solidFill>
                  <a:srgbClr val="B8862E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9759509" y="3079946"/>
            <a:ext cx="1792200" cy="4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32733"/>
              </a:buClr>
              <a:buSzPts val="830"/>
              <a:buFont typeface="Calibri"/>
              <a:buNone/>
            </a:pPr>
            <a:r>
              <a:rPr lang="en-US" sz="1230" b="0" i="0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Key competitors tracked continuously</a:t>
            </a:r>
            <a:endParaRPr sz="12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/>
          <p:nvPr/>
        </p:nvSpPr>
        <p:spPr>
          <a:xfrm>
            <a:off x="7610663" y="3740439"/>
            <a:ext cx="1938600" cy="9858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2700" cap="flat" cmpd="sng">
            <a:solidFill>
              <a:srgbClr val="DDE6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45" name="Google Shape;45;p3"/>
          <p:cNvSpPr/>
          <p:nvPr/>
        </p:nvSpPr>
        <p:spPr>
          <a:xfrm>
            <a:off x="7683815" y="3819304"/>
            <a:ext cx="1792200" cy="3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862E"/>
              </a:buClr>
              <a:buSzPts val="1800"/>
              <a:buFont typeface="Calibri"/>
              <a:buNone/>
            </a:pPr>
            <a:r>
              <a:rPr lang="en-US" sz="2200" b="1" i="0" u="none" strike="noStrike" cap="none">
                <a:solidFill>
                  <a:srgbClr val="B8862E"/>
                </a:solidFill>
                <a:latin typeface="Calibri"/>
                <a:ea typeface="Calibri"/>
                <a:cs typeface="Calibri"/>
                <a:sym typeface="Calibri"/>
              </a:rPr>
              <a:t>20K+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7683815" y="4213628"/>
            <a:ext cx="1792200" cy="4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32733"/>
              </a:buClr>
              <a:buSzPts val="830"/>
              <a:buFont typeface="Calibri"/>
              <a:buNone/>
            </a:pPr>
            <a:r>
              <a:rPr lang="en-US" sz="1230" b="0" i="0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Trial records processed</a:t>
            </a:r>
            <a:endParaRPr sz="12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3"/>
          <p:cNvSpPr/>
          <p:nvPr/>
        </p:nvSpPr>
        <p:spPr>
          <a:xfrm>
            <a:off x="9686357" y="3740439"/>
            <a:ext cx="1938600" cy="9858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2700" cap="flat" cmpd="sng">
            <a:solidFill>
              <a:srgbClr val="DDE6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48" name="Google Shape;48;p3"/>
          <p:cNvSpPr/>
          <p:nvPr/>
        </p:nvSpPr>
        <p:spPr>
          <a:xfrm>
            <a:off x="9759509" y="3819304"/>
            <a:ext cx="1792200" cy="3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862E"/>
              </a:buClr>
              <a:buSzPts val="1800"/>
              <a:buFont typeface="Calibri"/>
              <a:buNone/>
            </a:pPr>
            <a:r>
              <a:rPr lang="en-US" sz="2200" b="1" i="0" u="none" strike="noStrike" cap="none">
                <a:solidFill>
                  <a:srgbClr val="B8862E"/>
                </a:solidFill>
                <a:latin typeface="Calibri"/>
                <a:ea typeface="Calibri"/>
                <a:cs typeface="Calibri"/>
                <a:sym typeface="Calibri"/>
              </a:rPr>
              <a:t>3+ mo</a:t>
            </a:r>
            <a:r>
              <a:rPr lang="en-US" sz="2200" b="1">
                <a:solidFill>
                  <a:srgbClr val="B8862E"/>
                </a:solidFill>
                <a:latin typeface="Calibri"/>
                <a:ea typeface="Calibri"/>
                <a:cs typeface="Calibri"/>
                <a:sym typeface="Calibri"/>
              </a:rPr>
              <a:t>nth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9759509" y="4213628"/>
            <a:ext cx="1792200" cy="4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32733"/>
              </a:buClr>
              <a:buSzPts val="830"/>
              <a:buFont typeface="Calibri"/>
              <a:buNone/>
            </a:pPr>
            <a:r>
              <a:rPr lang="en-US" sz="1230" b="0" i="0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Of manual review replaced</a:t>
            </a:r>
            <a:endParaRPr sz="12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7610675" y="4965889"/>
            <a:ext cx="1938600" cy="9858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2700" cap="flat" cmpd="sng">
            <a:solidFill>
              <a:srgbClr val="DDE6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51" name="Google Shape;51;p3"/>
          <p:cNvSpPr/>
          <p:nvPr/>
        </p:nvSpPr>
        <p:spPr>
          <a:xfrm>
            <a:off x="7683815" y="4952986"/>
            <a:ext cx="1792200" cy="3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862E"/>
              </a:buClr>
              <a:buSzPts val="1800"/>
              <a:buFont typeface="Calibri"/>
              <a:buNone/>
            </a:pPr>
            <a:r>
              <a:rPr lang="en-US" sz="2200" b="1" i="0" u="none" strike="noStrike" cap="none">
                <a:solidFill>
                  <a:srgbClr val="B8862E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7683815" y="5347310"/>
            <a:ext cx="1792200" cy="4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32733"/>
              </a:buClr>
              <a:buSzPts val="830"/>
              <a:buFont typeface="Calibri"/>
              <a:buNone/>
            </a:pPr>
            <a:r>
              <a:rPr lang="en-US" sz="1230" b="0" i="0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Cut in reporting costs</a:t>
            </a:r>
            <a:endParaRPr sz="12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9686369" y="4965889"/>
            <a:ext cx="1938600" cy="9858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2700" cap="flat" cmpd="sng">
            <a:solidFill>
              <a:srgbClr val="DDE6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54" name="Google Shape;54;p3"/>
          <p:cNvSpPr/>
          <p:nvPr/>
        </p:nvSpPr>
        <p:spPr>
          <a:xfrm>
            <a:off x="9759509" y="4952986"/>
            <a:ext cx="1792200" cy="3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862E"/>
              </a:buClr>
              <a:buSzPts val="1800"/>
              <a:buFont typeface="Calibri"/>
              <a:buNone/>
            </a:pPr>
            <a:r>
              <a:rPr lang="en-US" sz="2200" b="1" i="0" u="none" strike="noStrike" cap="none">
                <a:solidFill>
                  <a:srgbClr val="B8862E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9759509" y="5347310"/>
            <a:ext cx="1792200" cy="4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232733"/>
              </a:buClr>
              <a:buSzPts val="830"/>
              <a:buFont typeface="Calibri"/>
              <a:buNone/>
            </a:pPr>
            <a:r>
              <a:rPr lang="en-US" sz="1230" b="0" i="0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Unsupported scores reached stakeholders</a:t>
            </a:r>
            <a:endParaRPr sz="12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6" name="Google Shape;56;p3"/>
          <p:cNvCxnSpPr/>
          <p:nvPr/>
        </p:nvCxnSpPr>
        <p:spPr>
          <a:xfrm>
            <a:off x="472338" y="6140237"/>
            <a:ext cx="11247000" cy="0"/>
          </a:xfrm>
          <a:prstGeom prst="straightConnector1">
            <a:avLst/>
          </a:prstGeom>
          <a:noFill/>
          <a:ln w="12700" cap="flat" cmpd="sng">
            <a:solidFill>
              <a:srgbClr val="E2E6E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7" name="Google Shape;57;p3"/>
          <p:cNvSpPr/>
          <p:nvPr/>
        </p:nvSpPr>
        <p:spPr>
          <a:xfrm>
            <a:off x="375025" y="6227065"/>
            <a:ext cx="112470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50"/>
              <a:buFont typeface="Calibri"/>
              <a:buNone/>
            </a:pPr>
            <a:r>
              <a:rPr lang="en-US" sz="1450" b="1" i="0" u="none" strike="noStrike" cap="non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Tools &amp; Methods:  </a:t>
            </a:r>
            <a:r>
              <a:rPr lang="en-US" sz="1450" b="0" i="0" u="none" strike="noStrike" cap="none">
                <a:solidFill>
                  <a:srgbClr val="232733"/>
                </a:solidFill>
                <a:latin typeface="Calibri"/>
                <a:ea typeface="Calibri"/>
                <a:cs typeface="Calibri"/>
                <a:sym typeface="Calibri"/>
              </a:rPr>
              <a:t>Python  ·  SQL  ·  LLM Prompt Engineering  ·  Rule-Based &amp; ML Scoring  ·  Sensitivity/Robustness Testing  ·  Dashboard Design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256</Words>
  <Application>Microsoft Macintosh PowerPoint</Application>
  <PresentationFormat>宽屏</PresentationFormat>
  <Paragraphs>31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Cao, Ankit</cp:lastModifiedBy>
  <cp:revision>2</cp:revision>
  <dcterms:modified xsi:type="dcterms:W3CDTF">2026-07-28T22:21:18Z</dcterms:modified>
</cp:coreProperties>
</file>