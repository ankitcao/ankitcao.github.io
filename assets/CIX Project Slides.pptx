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>
      <p:cViewPr varScale="1">
        <p:scale>
          <a:sx n="87" d="100"/>
          <a:sy n="87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146304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Trial Competitive Intelligence Dashboard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5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Analytics Consulting Project  ·  Client: Fortune 500 Medical Device Manufacturer (name confidential per NDA)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1300"/>
              <a:buFont typeface="Calibri"/>
              <a:buNone/>
            </a:pPr>
            <a:r>
              <a:rPr lang="en-US" sz="1600" b="0" i="1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The Problem: Reviewers had to manually screen thousands of new clinical trial filings a month to catch </a:t>
            </a:r>
            <a:r>
              <a:rPr lang="en-US" sz="1600" b="1" i="1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competitor moves and emerging market signals</a:t>
            </a:r>
            <a:r>
              <a:rPr lang="en-US" sz="1600" b="0" i="1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, a process too slow and inconsistent to keep up with a market that changes every week.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75025" y="2052800"/>
            <a:ext cx="469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2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 Built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75025" y="2571563"/>
            <a:ext cx="298500" cy="3069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22" name="Google Shape;22;p3"/>
          <p:cNvSpPr/>
          <p:nvPr/>
        </p:nvSpPr>
        <p:spPr>
          <a:xfrm>
            <a:off x="375025" y="2571563"/>
            <a:ext cx="298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22594" y="2523600"/>
            <a:ext cx="6639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600" y="2880174"/>
            <a:ext cx="68493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70"/>
              <a:buFont typeface="Calibri"/>
              <a:buNone/>
            </a:pPr>
            <a:r>
              <a:rPr lang="en-US" sz="127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Engineered a Python ingestion pipeline pulling 20,000+ public clinical trial records from a national trial registry API on a weekly refresh, automating sponsor deduplication and change-tracking across 10+ relational tables.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75025" y="3562820"/>
            <a:ext cx="298500" cy="3069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26" name="Google Shape;26;p3"/>
          <p:cNvSpPr/>
          <p:nvPr/>
        </p:nvSpPr>
        <p:spPr>
          <a:xfrm>
            <a:off x="375025" y="3562820"/>
            <a:ext cx="298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22594" y="3514858"/>
            <a:ext cx="6639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Two-Part Scoring Model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22594" y="3773857"/>
            <a:ext cx="6639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70"/>
              <a:buFont typeface="Calibri"/>
              <a:buNone/>
            </a:pPr>
            <a:r>
              <a:rPr lang="en-US" sz="127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a rule-based relevance score from sponsor, intervention, and condition signals, paired with an LLM-based importance score assessing trial novelty and market opportunity.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75025" y="4406966"/>
            <a:ext cx="298500" cy="3069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0" name="Google Shape;30;p3"/>
          <p:cNvSpPr/>
          <p:nvPr/>
        </p:nvSpPr>
        <p:spPr>
          <a:xfrm>
            <a:off x="375025" y="4406966"/>
            <a:ext cx="298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22594" y="4359003"/>
            <a:ext cx="6639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Validation &amp; Guardrails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22594" y="4618002"/>
            <a:ext cx="6639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70"/>
              <a:buFont typeface="Calibri"/>
              <a:buNone/>
            </a:pPr>
            <a:r>
              <a:rPr lang="en-US" sz="127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Stress-tested model outputs with sensitivity and robustness checks, and built an LLM guardrail layer that catches and blocks unsupported or overconfident scores before they reach stakeholders.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75025" y="5251111"/>
            <a:ext cx="298500" cy="3069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4" name="Google Shape;34;p3"/>
          <p:cNvSpPr/>
          <p:nvPr/>
        </p:nvSpPr>
        <p:spPr>
          <a:xfrm>
            <a:off x="375025" y="5251111"/>
            <a:ext cx="298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822594" y="5203148"/>
            <a:ext cx="6639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Interactive Dashboard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22594" y="5462147"/>
            <a:ext cx="6639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70"/>
              <a:buFont typeface="Calibri"/>
              <a:buNone/>
            </a:pPr>
            <a:r>
              <a:rPr lang="en-US" sz="127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Packaged results into an executive summary view, a market-trend view, and a prioritized trial tracker, so reviewers can see not just which trials matter, but why.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7671910" y="2057443"/>
            <a:ext cx="4069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2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610663" y="2606757"/>
            <a:ext cx="1938600" cy="9858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 cap="flat" cmpd="sng">
            <a:solidFill>
              <a:srgbClr val="DDE6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" name="Google Shape;39;p3"/>
          <p:cNvSpPr/>
          <p:nvPr/>
        </p:nvSpPr>
        <p:spPr>
          <a:xfrm>
            <a:off x="7683815" y="2685621"/>
            <a:ext cx="17922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2E"/>
              </a:buClr>
              <a:buSzPts val="1800"/>
              <a:buFont typeface="Calibri"/>
              <a:buNone/>
            </a:pPr>
            <a:r>
              <a:rPr lang="en-US" sz="2200" b="1" i="0" u="none" strike="noStrike" cap="none">
                <a:solidFill>
                  <a:srgbClr val="B8862E"/>
                </a:solidFill>
                <a:latin typeface="Calibri"/>
                <a:ea typeface="Calibri"/>
                <a:cs typeface="Calibri"/>
                <a:sym typeface="Calibri"/>
              </a:rPr>
              <a:t>$2M+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683815" y="3079946"/>
            <a:ext cx="17922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830"/>
              <a:buFont typeface="Calibri"/>
              <a:buNone/>
            </a:pPr>
            <a:r>
              <a:rPr lang="en-US" sz="1230" b="0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Competitive intelligence value delivered</a:t>
            </a:r>
            <a:endParaRPr sz="12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686357" y="2606757"/>
            <a:ext cx="1938600" cy="9858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 cap="flat" cmpd="sng">
            <a:solidFill>
              <a:srgbClr val="DDE6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" name="Google Shape;42;p3"/>
          <p:cNvSpPr/>
          <p:nvPr/>
        </p:nvSpPr>
        <p:spPr>
          <a:xfrm>
            <a:off x="9759509" y="2685621"/>
            <a:ext cx="17922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2E"/>
              </a:buClr>
              <a:buSzPts val="1800"/>
              <a:buFont typeface="Calibri"/>
              <a:buNone/>
            </a:pPr>
            <a:r>
              <a:rPr lang="en-US" sz="2200" b="1" i="0" u="none" strike="noStrike" cap="none">
                <a:solidFill>
                  <a:srgbClr val="B8862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9759509" y="3079946"/>
            <a:ext cx="17922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830"/>
              <a:buFont typeface="Calibri"/>
              <a:buNone/>
            </a:pPr>
            <a:r>
              <a:rPr lang="en-US" sz="1230" b="0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Key competitors tracked continuously</a:t>
            </a:r>
            <a:endParaRPr sz="12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610663" y="3740439"/>
            <a:ext cx="1938600" cy="9858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 cap="flat" cmpd="sng">
            <a:solidFill>
              <a:srgbClr val="DDE6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" name="Google Shape;45;p3"/>
          <p:cNvSpPr/>
          <p:nvPr/>
        </p:nvSpPr>
        <p:spPr>
          <a:xfrm>
            <a:off x="7683815" y="3819304"/>
            <a:ext cx="17922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2E"/>
              </a:buClr>
              <a:buSzPts val="1800"/>
              <a:buFont typeface="Calibri"/>
              <a:buNone/>
            </a:pPr>
            <a:r>
              <a:rPr lang="en-US" sz="2200" b="1" i="0" u="none" strike="noStrike" cap="none">
                <a:solidFill>
                  <a:srgbClr val="B8862E"/>
                </a:solidFill>
                <a:latin typeface="Calibri"/>
                <a:ea typeface="Calibri"/>
                <a:cs typeface="Calibri"/>
                <a:sym typeface="Calibri"/>
              </a:rPr>
              <a:t>20K+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683815" y="4213628"/>
            <a:ext cx="17922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830"/>
              <a:buFont typeface="Calibri"/>
              <a:buNone/>
            </a:pPr>
            <a:r>
              <a:rPr lang="en-US" sz="1230" b="0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Trial records processed</a:t>
            </a:r>
            <a:endParaRPr sz="12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9686357" y="3740439"/>
            <a:ext cx="1938600" cy="9858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 cap="flat" cmpd="sng">
            <a:solidFill>
              <a:srgbClr val="DDE6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" name="Google Shape;48;p3"/>
          <p:cNvSpPr/>
          <p:nvPr/>
        </p:nvSpPr>
        <p:spPr>
          <a:xfrm>
            <a:off x="9759509" y="3819304"/>
            <a:ext cx="17922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2E"/>
              </a:buClr>
              <a:buSzPts val="1800"/>
              <a:buFont typeface="Calibri"/>
              <a:buNone/>
            </a:pPr>
            <a:r>
              <a:rPr lang="en-US" sz="2200" b="1" i="0" u="none" strike="noStrike" cap="none">
                <a:solidFill>
                  <a:srgbClr val="B8862E"/>
                </a:solidFill>
                <a:latin typeface="Calibri"/>
                <a:ea typeface="Calibri"/>
                <a:cs typeface="Calibri"/>
                <a:sym typeface="Calibri"/>
              </a:rPr>
              <a:t>3+ mo</a:t>
            </a:r>
            <a:r>
              <a:rPr lang="en-US" sz="2200" b="1">
                <a:solidFill>
                  <a:srgbClr val="B8862E"/>
                </a:solidFill>
                <a:latin typeface="Calibri"/>
                <a:ea typeface="Calibri"/>
                <a:cs typeface="Calibri"/>
                <a:sym typeface="Calibri"/>
              </a:rPr>
              <a:t>nth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9759509" y="4213628"/>
            <a:ext cx="17922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830"/>
              <a:buFont typeface="Calibri"/>
              <a:buNone/>
            </a:pPr>
            <a:r>
              <a:rPr lang="en-US" sz="1230" b="0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Of manual review replaced</a:t>
            </a:r>
            <a:endParaRPr sz="12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610675" y="4965889"/>
            <a:ext cx="1938600" cy="9858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 cap="flat" cmpd="sng">
            <a:solidFill>
              <a:srgbClr val="DDE6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1" name="Google Shape;51;p3"/>
          <p:cNvSpPr/>
          <p:nvPr/>
        </p:nvSpPr>
        <p:spPr>
          <a:xfrm>
            <a:off x="7683815" y="4952986"/>
            <a:ext cx="17922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2E"/>
              </a:buClr>
              <a:buSzPts val="1800"/>
              <a:buFont typeface="Calibri"/>
              <a:buNone/>
            </a:pPr>
            <a:r>
              <a:rPr lang="en-US" sz="2200" b="1" i="0" u="none" strike="noStrike" cap="none">
                <a:solidFill>
                  <a:srgbClr val="B8862E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683815" y="5347310"/>
            <a:ext cx="17922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830"/>
              <a:buFont typeface="Calibri"/>
              <a:buNone/>
            </a:pPr>
            <a:r>
              <a:rPr lang="en-US" sz="1230" b="0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Cut in reporting costs</a:t>
            </a:r>
            <a:endParaRPr sz="12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686369" y="4965889"/>
            <a:ext cx="1938600" cy="9858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 cap="flat" cmpd="sng">
            <a:solidFill>
              <a:srgbClr val="DDE6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" name="Google Shape;54;p3"/>
          <p:cNvSpPr/>
          <p:nvPr/>
        </p:nvSpPr>
        <p:spPr>
          <a:xfrm>
            <a:off x="9759509" y="4952986"/>
            <a:ext cx="17922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2E"/>
              </a:buClr>
              <a:buSzPts val="1800"/>
              <a:buFont typeface="Calibri"/>
              <a:buNone/>
            </a:pPr>
            <a:r>
              <a:rPr lang="en-US" sz="2200" b="1" i="0" u="none" strike="noStrike" cap="none">
                <a:solidFill>
                  <a:srgbClr val="B886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9759509" y="5347310"/>
            <a:ext cx="17922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32733"/>
              </a:buClr>
              <a:buSzPts val="830"/>
              <a:buFont typeface="Calibri"/>
              <a:buNone/>
            </a:pPr>
            <a:r>
              <a:rPr lang="en-US" sz="1230" b="0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Unsupported scores reached stakeholders</a:t>
            </a:r>
            <a:endParaRPr sz="12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472338" y="6140237"/>
            <a:ext cx="11247000" cy="0"/>
          </a:xfrm>
          <a:prstGeom prst="straightConnector1">
            <a:avLst/>
          </a:prstGeom>
          <a:noFill/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p3"/>
          <p:cNvSpPr/>
          <p:nvPr/>
        </p:nvSpPr>
        <p:spPr>
          <a:xfrm>
            <a:off x="375025" y="6227065"/>
            <a:ext cx="11247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4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Tools &amp; Methods:  </a:t>
            </a:r>
            <a:r>
              <a:rPr lang="en-US" sz="1450" b="0" i="0" u="none" strike="noStrike" cap="none">
                <a:solidFill>
                  <a:srgbClr val="232733"/>
                </a:solidFill>
                <a:latin typeface="Calibri"/>
                <a:ea typeface="Calibri"/>
                <a:cs typeface="Calibri"/>
                <a:sym typeface="Calibri"/>
              </a:rPr>
              <a:t>Python  ·  SQL  ·  LLM Prompt Engineering  ·  Rule-Based &amp; ML Scoring  ·  Sensitivity/Robustness Testing  ·  Dashboard Design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Macintosh PowerPoint</Application>
  <PresentationFormat>宽屏</PresentationFormat>
  <Paragraphs>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Cao, Ankit</cp:lastModifiedBy>
  <cp:revision>1</cp:revision>
  <dcterms:modified xsi:type="dcterms:W3CDTF">2026-07-28T16:39:27Z</dcterms:modified>
</cp:coreProperties>
</file>