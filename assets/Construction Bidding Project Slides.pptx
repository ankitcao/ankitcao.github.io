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7A2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914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Bid Intelligence &amp; Pricing Analytics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67665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D2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D2C7"/>
                </a:solidFill>
                <a:latin typeface="Calibri"/>
                <a:ea typeface="Calibri"/>
                <a:cs typeface="Calibri"/>
                <a:sym typeface="Calibri"/>
              </a:rPr>
              <a:t>Analytics Consulting Project  ·  Client: A Leading Construction &amp; Infrastructure Firm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The Problem: Bidding on public infrastructure contracts is highly competitive and largely intuition-driven, making it hard to know when a bid is </a:t>
            </a:r>
            <a:r>
              <a:rPr b="1" i="1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priced right, too aggressive, or leaving money on the table.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121408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27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7A2E27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7A2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87552" y="2560320"/>
            <a:ext cx="6327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Data Cleaning &amp; Imputation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87552" y="2871216"/>
            <a:ext cx="6327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C56"/>
              </a:buClr>
              <a:buSzPts val="1270"/>
              <a:buFont typeface="Calibri"/>
              <a:buNone/>
            </a:pPr>
            <a:r>
              <a:rPr b="0" i="0" lang="en-US" sz="13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Ingested and cleaned 3,500+ public bid records, using KNN imputation to fill missing project and pricing fields so the dataset was reliable enough to model.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3547872"/>
            <a:ext cx="384048" cy="384048"/>
          </a:xfrm>
          <a:prstGeom prst="ellipse">
            <a:avLst/>
          </a:prstGeom>
          <a:solidFill>
            <a:srgbClr val="7A2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57200" y="3547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87552" y="3502152"/>
            <a:ext cx="6327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Competitor Pattern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87552" y="3813048"/>
            <a:ext cx="6327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C56"/>
              </a:buClr>
              <a:buSzPts val="1270"/>
              <a:buFont typeface="Calibri"/>
              <a:buNone/>
            </a:pPr>
            <a:r>
              <a:rPr b="0" i="0" lang="en-US" sz="13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Applied LOF anomaly detection to flag competitors with systematically unusual bidding behavior, matching 80% of the firm's own competitor watchlist.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489704"/>
            <a:ext cx="384048" cy="384048"/>
          </a:xfrm>
          <a:prstGeom prst="ellipse">
            <a:avLst/>
          </a:prstGeom>
          <a:solidFill>
            <a:srgbClr val="7A2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44897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87552" y="4443984"/>
            <a:ext cx="6327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Win-Probability Modeling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87552" y="4754880"/>
            <a:ext cx="6327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C56"/>
              </a:buClr>
              <a:buSzPts val="1270"/>
              <a:buFont typeface="Calibri"/>
              <a:buNone/>
            </a:pPr>
            <a:r>
              <a:rPr b="0" i="0" lang="en-US" sz="13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a logistic regression model estimating competitor-specific win probabilities, factoring in project scale and geographic pricing effects.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5431536"/>
            <a:ext cx="384048" cy="384048"/>
          </a:xfrm>
          <a:prstGeom prst="ellipse">
            <a:avLst/>
          </a:prstGeom>
          <a:solidFill>
            <a:srgbClr val="7A2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57200" y="54315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87552" y="5385816"/>
            <a:ext cx="6327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Bid Strategy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87552" y="5696712"/>
            <a:ext cx="632764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C56"/>
              </a:buClr>
              <a:buSzPts val="1270"/>
              <a:buFont typeface="Calibri"/>
              <a:buNone/>
            </a:pPr>
            <a:r>
              <a:rPr b="0" i="0" lang="en-US" sz="13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Translated model outputs into clear go or no-go signals reviewers could use directly when deciding how aggressively to price a bid.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635240" y="212140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2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7A2E27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635240" y="2615184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708392" y="2688336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$4M+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708392" y="3145536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Potential revenue upside identified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784080" y="2615184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9857232" y="2688336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264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9857232" y="3145536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Recoverable analyst hours identified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635240" y="3867912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708392" y="3941064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3,500+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708392" y="4398264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Public bid records cleaned &amp; modeled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784080" y="3867912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857232" y="3941064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9857232" y="4398264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Match rate vs. known competitor list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635240" y="5120640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708392" y="5193792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708392" y="5650992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Competitors flagged for anomalous bidding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784080" y="5120640"/>
            <a:ext cx="2011680" cy="1115568"/>
          </a:xfrm>
          <a:prstGeom prst="roundRect">
            <a:avLst>
              <a:gd fmla="val 4918" name="adj"/>
            </a:avLst>
          </a:prstGeom>
          <a:solidFill>
            <a:srgbClr val="FBF1EC"/>
          </a:solidFill>
          <a:ln cap="flat" cmpd="sng" w="12700">
            <a:solidFill>
              <a:srgbClr val="EAD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857232" y="5193792"/>
            <a:ext cx="1865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2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8622E"/>
                </a:solidFill>
                <a:latin typeface="Calibri"/>
                <a:ea typeface="Calibri"/>
                <a:cs typeface="Calibri"/>
                <a:sym typeface="Calibri"/>
              </a:rPr>
              <a:t>90 bps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857232" y="5650992"/>
            <a:ext cx="18653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B211E"/>
              </a:buClr>
              <a:buSzPts val="1230"/>
              <a:buFont typeface="Calibri"/>
              <a:buNone/>
            </a:pPr>
            <a:r>
              <a:rPr b="0" i="0" lang="en-US" sz="123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Cut in bid-cost exposure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457200" y="6355080"/>
            <a:ext cx="11247120" cy="0"/>
          </a:xfrm>
          <a:prstGeom prst="straightConnector1">
            <a:avLst/>
          </a:prstGeom>
          <a:noFill/>
          <a:ln cap="flat" cmpd="sng" w="12700">
            <a:solidFill>
              <a:srgbClr val="EEE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E2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7A2E27"/>
                </a:solidFill>
                <a:latin typeface="Calibri"/>
                <a:ea typeface="Calibri"/>
                <a:cs typeface="Calibri"/>
                <a:sym typeface="Calibri"/>
              </a:rPr>
              <a:t>Tools &amp; Methods:  </a:t>
            </a:r>
            <a:r>
              <a:rPr b="0" i="0" lang="en-US" sz="1450" u="none" cap="none" strike="noStrike">
                <a:solidFill>
                  <a:srgbClr val="2B211E"/>
                </a:solidFill>
                <a:latin typeface="Calibri"/>
                <a:ea typeface="Calibri"/>
                <a:cs typeface="Calibri"/>
                <a:sym typeface="Calibri"/>
              </a:rPr>
              <a:t>Python · KNN Imputation · LOF Outlier Detection · Logistic Regression · Predictive Modeling · Bid Strategy Analytics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